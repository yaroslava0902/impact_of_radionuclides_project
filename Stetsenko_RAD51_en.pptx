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165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8688" y="2328853"/>
            <a:ext cx="1911347" cy="650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RAD51</a:t>
            </a:r>
            <a:endParaRPr lang="en-US" sz="4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50" y="457150"/>
            <a:ext cx="8394293" cy="388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30"/>
              </a:lnSpc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Function of RAD51 protein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150" y="960313"/>
            <a:ext cx="8394293" cy="23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761876" y="914350"/>
            <a:ext cx="3733974" cy="4146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Function: </a:t>
            </a: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of double-strand DNA breaks via homologous recombination</a:t>
            </a: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Partners: </a:t>
            </a: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BRCA1, BRCA2 (assembly regulator), PALB2, RAD51B/C/D (paralogues), XRCC2/3 (</a:t>
            </a:r>
            <a:r>
              <a:rPr lang="en-US" sz="10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stabilisation</a:t>
            </a: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BLM (</a:t>
            </a:r>
            <a:r>
              <a:rPr lang="en-US" sz="10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remodelling</a:t>
            </a: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helicase)</a:t>
            </a: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00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Localisation</a:t>
            </a: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nucleus (NLS signal at the N-terminus)</a:t>
            </a: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Expression: </a:t>
            </a: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peaks in the S–G2 phases of the cycle when the cell replicates DNA</a:t>
            </a: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</a:t>
            </a: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 a helical filament on ssDNA, scans the genome for a homologous sequence, </a:t>
            </a:r>
            <a:r>
              <a:rPr lang="en-US" sz="10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catalyses</a:t>
            </a: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invasion and strand exchange</a:t>
            </a: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Involvement in pathologies: </a:t>
            </a: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Fanconi syndrome </a:t>
            </a:r>
            <a:r>
              <a:rPr lang="en-US" sz="10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anaemia</a:t>
            </a: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(mutational loss of function), breast cancer (mutational resistance), pancreatic cancer (overexpression leads to chemoresistance)</a:t>
            </a: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endParaRPr lang="en-US" sz="1140" b="1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68692A1-FA45-8018-169B-BC93999EF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372" y="718957"/>
            <a:ext cx="3833294" cy="37526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4AF065-A316-59C0-D9BB-CB8E5D80088A}"/>
              </a:ext>
            </a:extLst>
          </p:cNvPr>
          <p:cNvSpPr txBox="1"/>
          <p:nvPr/>
        </p:nvSpPr>
        <p:spPr>
          <a:xfrm>
            <a:off x="4572000" y="4471644"/>
            <a:ext cx="4572000" cy="44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4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Figure 1 Protein-protein interaction network reflecting the functional relationships of RAD51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89138E6-0662-0784-30D8-289CFE37B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Recombinase for homologous DNA recombination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50" y="457150"/>
            <a:ext cx="8394293" cy="388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Nucleotide and amino acid sequence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36233" y="957082"/>
            <a:ext cx="3733974" cy="405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Chromosome: </a:t>
            </a:r>
            <a:r>
              <a:rPr lang="en-US" sz="114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15q15.1 (gene length: ~32 kb, 9 exons)</a:t>
            </a: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ORF: </a:t>
            </a:r>
            <a:r>
              <a:rPr lang="en-US" sz="114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1368 bp (during transcription) → 339 amino acids (translated in ribosomes)</a:t>
            </a: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Molecular weight: </a:t>
            </a:r>
            <a:r>
              <a:rPr lang="en-US" sz="114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</a:t>
            </a:r>
            <a:r>
              <a:rPr lang="en-US" sz="114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kDa</a:t>
            </a:r>
            <a:r>
              <a:rPr lang="en-US" sz="114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(determined by mass spectrometry)</a:t>
            </a: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ORF type: </a:t>
            </a:r>
            <a:r>
              <a:rPr lang="en-US" sz="114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dominant frame in the forward direction; ALTER transcripts do not alter the RecA core</a:t>
            </a: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Pathogenic mutations (LOSS OF FUNCTION):</a:t>
            </a: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c.172C&gt;T → STOP58 (Fanconi </a:t>
            </a:r>
            <a:r>
              <a:rPr lang="en-US" sz="114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anaemia</a:t>
            </a:r>
            <a:r>
              <a:rPr lang="en-US" sz="114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FANCR, loss of entire catalytic domain)</a:t>
            </a: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c.872A&gt;G → Y291C (breast cancer, loss of DNA-binding competence)</a:t>
            </a:r>
            <a:r>
              <a:rPr lang="fr-FR" sz="114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Figure 3  Mutation distribution graph</a:t>
            </a:r>
            <a:endParaRPr lang="en-US" sz="1140" b="1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68+ somatic mutations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1ECA08D-8D1C-ABDA-448F-20EF31404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071" y="846087"/>
            <a:ext cx="4735426" cy="151270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97E6777-CFE0-6EE4-B1B5-51A4D7A85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377" y="2797215"/>
            <a:ext cx="4626096" cy="17945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0700BE-3C45-F77A-35F1-BB3A38FBFA2D}"/>
              </a:ext>
            </a:extLst>
          </p:cNvPr>
          <p:cNvSpPr txBox="1"/>
          <p:nvPr/>
        </p:nvSpPr>
        <p:spPr>
          <a:xfrm>
            <a:off x="4493473" y="2354017"/>
            <a:ext cx="4572000" cy="44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4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Figure 2  Genomic context of the RAD51 gene: </a:t>
            </a:r>
            <a:r>
              <a:rPr lang="en-US" sz="1140" dirty="0" err="1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localisation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on the long arm of the chromosome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8851D-FE92-A22D-4F15-63A35A3B1C38}"/>
              </a:ext>
            </a:extLst>
          </p:cNvPr>
          <p:cNvSpPr txBox="1"/>
          <p:nvPr/>
        </p:nvSpPr>
        <p:spPr>
          <a:xfrm>
            <a:off x="4654296" y="4660795"/>
            <a:ext cx="4572000" cy="26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4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Figure 3  Mutation distribution graph</a:t>
            </a:r>
            <a:endParaRPr lang="fr-FR" sz="1140" dirty="0">
              <a:solidFill>
                <a:srgbClr val="CBD5E1"/>
              </a:solidFill>
              <a:latin typeface="Arial" pitchFamily="34" charset="0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150" y="241220"/>
            <a:ext cx="8394293" cy="60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Domain structure and conservative residues</a:t>
            </a:r>
            <a:endParaRPr lang="en-US" sz="27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4951524-ED38-B1C7-16A5-AB1E76D10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701" y="846088"/>
            <a:ext cx="4769469" cy="276079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D648B2-CF2C-9C79-6347-B2C1F48BA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231" y="3845733"/>
            <a:ext cx="5943600" cy="7715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53564C-FE22-BA46-2CE5-B99076625201}"/>
              </a:ext>
            </a:extLst>
          </p:cNvPr>
          <p:cNvSpPr txBox="1"/>
          <p:nvPr/>
        </p:nvSpPr>
        <p:spPr>
          <a:xfrm>
            <a:off x="3182950" y="3577967"/>
            <a:ext cx="4572000" cy="26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4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Figure 4 RAD51 domain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EC60DC-7182-719E-CB2A-8BEA861B236E}"/>
              </a:ext>
            </a:extLst>
          </p:cNvPr>
          <p:cNvSpPr txBox="1"/>
          <p:nvPr/>
        </p:nvSpPr>
        <p:spPr>
          <a:xfrm>
            <a:off x="2390702" y="4634514"/>
            <a:ext cx="4572000" cy="26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4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Figure 5 </a:t>
            </a:r>
            <a:r>
              <a:rPr lang="en-US" sz="1140" dirty="0" err="1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Visualisation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of conserved amino acid residues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50" y="457149"/>
            <a:ext cx="8229699" cy="457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Three-dimensional structure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61876" y="1349250"/>
            <a:ext cx="3733974" cy="3721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36"/>
              </a:lnSpc>
              <a:buSzPct val="100000"/>
              <a:buChar char="•"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PDB ID 9QNA: </a:t>
            </a:r>
            <a:r>
              <a:rPr lang="en-US" sz="108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length</a:t>
            </a:r>
          </a:p>
          <a:p>
            <a:pPr marL="342900" indent="-342900">
              <a:lnSpc>
                <a:spcPts val="1836"/>
              </a:lnSpc>
              <a:buSzPct val="100000"/>
              <a:buChar char="•"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Filament architecture: </a:t>
            </a:r>
            <a:r>
              <a:rPr lang="en-US" sz="108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helical </a:t>
            </a:r>
            <a:r>
              <a:rPr lang="en-US" sz="108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</a:t>
            </a:r>
            <a:r>
              <a:rPr lang="en-US" sz="108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(6–7 monomers per turn), RAD51–ssDNA and RAD51–RAD51 contacts</a:t>
            </a:r>
          </a:p>
          <a:p>
            <a:pPr marL="342900" indent="-342900">
              <a:lnSpc>
                <a:spcPts val="1836"/>
              </a:lnSpc>
              <a:buSzPct val="100000"/>
              <a:buChar char="•"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ATP pocket</a:t>
            </a:r>
            <a:r>
              <a:rPr lang="en-US" sz="108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deep pocket in the </a:t>
            </a:r>
            <a:r>
              <a:rPr lang="en-US" sz="108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r>
              <a:rPr lang="en-US" sz="108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RecA domain, interacts with the adenosine moiety and magnesium</a:t>
            </a:r>
          </a:p>
          <a:p>
            <a:pPr marL="342900" indent="-342900">
              <a:lnSpc>
                <a:spcPts val="1836"/>
              </a:lnSpc>
              <a:buSzPct val="100000"/>
              <a:buChar char="•"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L1/L2 loops: </a:t>
            </a:r>
            <a:r>
              <a:rPr lang="en-US" sz="108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hydrophobic surface at the periphery, contacts with ssDNA via </a:t>
            </a:r>
            <a:r>
              <a:rPr lang="el-GR" sz="108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π-</a:t>
            </a:r>
            <a:r>
              <a:rPr lang="en-US" sz="108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 Phe248, Met251</a:t>
            </a:r>
          </a:p>
          <a:p>
            <a:pPr marL="342900" indent="-342900">
              <a:lnSpc>
                <a:spcPts val="1836"/>
              </a:lnSpc>
              <a:buSzPct val="100000"/>
              <a:buChar char="•"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BRCA2-binding site: </a:t>
            </a:r>
            <a:r>
              <a:rPr lang="en-US" sz="108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linker region (D321–G317)</a:t>
            </a:r>
          </a:p>
          <a:p>
            <a:pPr marL="342900" indent="-342900">
              <a:lnSpc>
                <a:spcPts val="1836"/>
              </a:lnSpc>
              <a:buSzPct val="100000"/>
              <a:buChar char="•"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Docking hypothesis: </a:t>
            </a:r>
            <a:r>
              <a:rPr lang="en-US" sz="108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molecules target two orthogonal sites — (1) L1/L2 for DNA interaction activators/inhibitors, (2) ATP pocket for ATP hydrolysis inhibitors</a:t>
            </a:r>
          </a:p>
        </p:txBody>
      </p:sp>
      <p:sp>
        <p:nvSpPr>
          <p:cNvPr id="4" name="Text 2"/>
          <p:cNvSpPr/>
          <p:nvPr/>
        </p:nvSpPr>
        <p:spPr>
          <a:xfrm>
            <a:off x="4781973" y="914400"/>
            <a:ext cx="4038699" cy="828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</a:t>
            </a:r>
            <a:r>
              <a:rPr lang="en-US" sz="102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activators (RS-1) </a:t>
            </a:r>
            <a:r>
              <a:rPr lang="en-US" sz="102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stabilise</a:t>
            </a:r>
            <a:r>
              <a:rPr lang="en-US" sz="102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active conformation of the filament; inhibitors (B02/DIDS/RI-1/CAM833) block assembly or DNA pairing through competition for critical surfaces.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423E8F9-88A0-373E-92E2-198397F25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496" y="1742877"/>
            <a:ext cx="4034591" cy="27231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DF1C8E-393F-E7F0-79C6-268CF88BF248}"/>
              </a:ext>
            </a:extLst>
          </p:cNvPr>
          <p:cNvSpPr txBox="1"/>
          <p:nvPr/>
        </p:nvSpPr>
        <p:spPr>
          <a:xfrm>
            <a:off x="4889597" y="4561701"/>
            <a:ext cx="4572000" cy="24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2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Figure 6 3D model of the spiral organisation of the RAD51 filament</a:t>
            </a:r>
            <a:endParaRPr lang="en-US" sz="1020" dirty="0">
              <a:solidFill>
                <a:srgbClr val="94A3B8"/>
              </a:solidFill>
              <a:latin typeface="Arial" pitchFamily="34" charset="0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150" y="457149"/>
            <a:ext cx="8394293" cy="388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BLAST</a:t>
            </a:r>
            <a:endParaRPr lang="en-US" sz="27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2EBB62C-5198-46CE-D812-D807E63C5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554" y="874019"/>
            <a:ext cx="5760051" cy="37645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ADCAF6-AE6F-5596-535C-23F8BC061648}"/>
              </a:ext>
            </a:extLst>
          </p:cNvPr>
          <p:cNvSpPr txBox="1"/>
          <p:nvPr/>
        </p:nvSpPr>
        <p:spPr>
          <a:xfrm>
            <a:off x="2865353" y="4686351"/>
            <a:ext cx="457200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8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Figure 7  Table of BLAST search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150" y="457149"/>
            <a:ext cx="8229699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Molecular docking</a:t>
            </a:r>
            <a:endParaRPr lang="en-US" sz="27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2460E8A-116A-82D4-0610-E8BB58605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77" y="1031619"/>
            <a:ext cx="7801444" cy="3508149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61331931-B192-B2EE-B3CC-EF64F335A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Figure 8 Molecular docking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F9819A-FF78-B120-1189-CCE26AC1ABAC}"/>
              </a:ext>
            </a:extLst>
          </p:cNvPr>
          <p:cNvSpPr txBox="1"/>
          <p:nvPr/>
        </p:nvSpPr>
        <p:spPr>
          <a:xfrm>
            <a:off x="3289397" y="4669034"/>
            <a:ext cx="459643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8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Figure 8   Molecular docking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489</Words>
  <Application>Microsoft Office PowerPoint</Application>
  <PresentationFormat>Экран (16:9)</PresentationFormat>
  <Paragraphs>47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Ярослава Стеценко</cp:lastModifiedBy>
  <cp:revision>5</cp:revision>
  <dcterms:created xsi:type="dcterms:W3CDTF">2025-12-04T09:43:22Z</dcterms:created>
  <dcterms:modified xsi:type="dcterms:W3CDTF">2025-12-19T23:00:28Z</dcterms:modified>
</cp:coreProperties>
</file>